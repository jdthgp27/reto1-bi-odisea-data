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3"/>
  </p:notesMasterIdLst>
  <p:handoutMasterIdLst>
    <p:handoutMasterId r:id="rId14"/>
  </p:handoutMasterIdLst>
  <p:sldIdLst>
    <p:sldId id="334" r:id="rId5"/>
    <p:sldId id="316" r:id="rId6"/>
    <p:sldId id="337" r:id="rId7"/>
    <p:sldId id="343" r:id="rId8"/>
    <p:sldId id="342" r:id="rId9"/>
    <p:sldId id="336" r:id="rId10"/>
    <p:sldId id="324" r:id="rId11"/>
    <p:sldId id="349" r:id="rId1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84967" autoAdjust="0"/>
  </p:normalViewPr>
  <p:slideViewPr>
    <p:cSldViewPr snapToGrid="0">
      <p:cViewPr varScale="1">
        <p:scale>
          <a:sx n="127" d="100"/>
          <a:sy n="127" d="100"/>
        </p:scale>
        <p:origin x="110" y="350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0AAA6EE-6919-4DC7-8439-298F991E723B}" type="datetime1">
              <a:rPr lang="es-ES" smtClean="0"/>
              <a:t>15/09/2026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397C78D2-97D1-4B37-BDD1-08A09BD4CA9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340614D4-F124-4668-AD9D-A3BFE7ECCF6B}" type="datetime1">
              <a:rPr lang="es-ES" smtClean="0"/>
              <a:pPr/>
              <a:t>15/09/2026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5939589-3E79-4C82-AA4A-FE78234FAA5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5939589-3E79-4C82-AA4A-FE78234FAA5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solo 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es-ES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á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Grá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7" name="Grá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" name="Marcador de posición de imagen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5" name="Marcador de posición de imagen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es-ES" sz="1800"/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defRPr lang="es-ES" sz="1600"/>
            </a:lvl2pPr>
            <a:lvl3pPr marL="457200">
              <a:defRPr lang="es-ES" sz="1400"/>
            </a:lvl3pPr>
            <a:lvl4pPr marL="685800">
              <a:defRPr lang="es-ES" sz="1200"/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á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Grá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4" name="Marcador de pie de pá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+ diapositiva de sub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es-ES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es-ES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3" name="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es-ES" sz="4000" b="1" cap="all" spc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es-ES" sz="1800"/>
            </a:lvl1pPr>
            <a:lvl2pPr marL="228600">
              <a:spcBef>
                <a:spcPts val="1200"/>
              </a:spcBef>
              <a:defRPr lang="es-ES" sz="1800"/>
            </a:lvl2pPr>
            <a:lvl3pPr marL="685800">
              <a:spcBef>
                <a:spcPts val="1200"/>
              </a:spcBef>
              <a:defRPr lang="es-ES" sz="1800"/>
            </a:lvl3pPr>
            <a:lvl4pPr marL="1143000">
              <a:spcBef>
                <a:spcPts val="1200"/>
              </a:spcBef>
              <a:defRPr lang="es-ES" sz="1800"/>
            </a:lvl4pPr>
            <a:lvl5pPr marL="16002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á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es-ES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es-ES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es-ES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es-ES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 indent="0">
              <a:spcBef>
                <a:spcPts val="1200"/>
              </a:spcBef>
              <a:buNone/>
              <a:defRPr lang="es-ES" sz="1600"/>
            </a:lvl2pPr>
            <a:lvl3pPr marL="914400" indent="0">
              <a:spcBef>
                <a:spcPts val="1200"/>
              </a:spcBef>
              <a:buNone/>
              <a:defRPr lang="es-ES" sz="1400"/>
            </a:lvl3pPr>
            <a:lvl4pPr marL="1371600" indent="0">
              <a:spcBef>
                <a:spcPts val="1200"/>
              </a:spcBef>
              <a:buNone/>
              <a:defRPr lang="es-ES" sz="1200"/>
            </a:lvl4pPr>
            <a:lvl5pPr marL="1828800" indent="0">
              <a:spcBef>
                <a:spcPts val="1200"/>
              </a:spcBef>
              <a:buNone/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600"/>
            </a:lvl2pPr>
            <a:lvl3pPr>
              <a:spcBef>
                <a:spcPts val="1200"/>
              </a:spcBef>
              <a:defRPr lang="es-ES" sz="1400"/>
            </a:lvl3pPr>
            <a:lvl4pPr>
              <a:spcBef>
                <a:spcPts val="1200"/>
              </a:spcBef>
              <a:defRPr lang="es-ES" sz="1200"/>
            </a:lvl4pPr>
            <a:lvl5pPr>
              <a:spcBef>
                <a:spcPts val="1200"/>
              </a:spcBef>
              <a:defRPr lang="es-ES" sz="12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es-ES" sz="4000" b="1" i="0" cap="all" spc="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es-ES" sz="1800"/>
            </a:lvl1pPr>
            <a:lvl2pPr marL="228600">
              <a:lnSpc>
                <a:spcPct val="110000"/>
              </a:lnSpc>
              <a:defRPr lang="es-ES" sz="1600"/>
            </a:lvl2pPr>
            <a:lvl3pPr marL="457200">
              <a:lnSpc>
                <a:spcPct val="110000"/>
              </a:lnSpc>
              <a:defRPr lang="es-ES" sz="1400"/>
            </a:lvl3pPr>
            <a:lvl4pPr marL="685800">
              <a:lnSpc>
                <a:spcPct val="110000"/>
              </a:lnSpc>
              <a:defRPr lang="es-ES" sz="1200"/>
            </a:lvl4pPr>
            <a:lvl5pPr marL="914400">
              <a:lnSpc>
                <a:spcPct val="110000"/>
              </a:lnSpc>
              <a:defRPr lang="es-ES" sz="12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0" name="Marcador de pie de pá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es-ES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es-ES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es-ES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es-ES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es-ES" sz="1200">
                <a:solidFill>
                  <a:schemeClr val="tx1"/>
                </a:solidFill>
              </a:defRPr>
            </a:lvl4pPr>
            <a:lvl5pPr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pie de pá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es-ES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es-ES" sz="1800"/>
            </a:lvl1pPr>
            <a:lvl2pPr marL="457200">
              <a:spcBef>
                <a:spcPts val="1200"/>
              </a:spcBef>
              <a:defRPr lang="es-ES" sz="1800"/>
            </a:lvl2pPr>
            <a:lvl3pPr marL="914400">
              <a:spcBef>
                <a:spcPts val="1200"/>
              </a:spcBef>
              <a:defRPr lang="es-ES" sz="1800"/>
            </a:lvl3pPr>
            <a:lvl4pPr marL="1371600">
              <a:spcBef>
                <a:spcPts val="1200"/>
              </a:spcBef>
              <a:defRPr lang="es-ES" sz="1800"/>
            </a:lvl4pPr>
            <a:lvl5pPr marL="1828800"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es-ES" sz="1800"/>
            </a:lvl1pPr>
            <a:lvl2pPr>
              <a:spcBef>
                <a:spcPts val="1200"/>
              </a:spcBef>
              <a:defRPr lang="es-ES" sz="1800"/>
            </a:lvl2pPr>
            <a:lvl3pPr>
              <a:spcBef>
                <a:spcPts val="1200"/>
              </a:spcBef>
              <a:defRPr lang="es-ES" sz="1800"/>
            </a:lvl3pPr>
            <a:lvl4pPr>
              <a:spcBef>
                <a:spcPts val="1200"/>
              </a:spcBef>
              <a:defRPr lang="es-ES" sz="1800"/>
            </a:lvl4pPr>
            <a:lvl5pPr>
              <a:spcBef>
                <a:spcPts val="12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á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Grá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Grá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á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6" name="Grá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7" name="Grá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es-ES" sz="4000" b="1" cap="all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es-ES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rbujas de imagen y títu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es-ES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Marcador de posición de imagen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es-ES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una imagen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es-ES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á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5" name="Grá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6" name="Grá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t>‹Nº›</a:t>
            </a:fld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es-ES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es-ES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8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0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4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hyperlink" Target="https://www.linkedin.com/in/judit-giravent-27b167156/" TargetMode="Externa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8" y="357809"/>
            <a:ext cx="9590373" cy="302306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0" dirty="0"/>
              <a:t>Análisis del Mercado Laboral Tech 2024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3956AB-FF21-8081-E350-A12B4F43220F}"/>
              </a:ext>
            </a:extLst>
          </p:cNvPr>
          <p:cNvSpPr txBox="1"/>
          <p:nvPr/>
        </p:nvSpPr>
        <p:spPr>
          <a:xfrm>
            <a:off x="1576137" y="3380874"/>
            <a:ext cx="5288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</a:rPr>
              <a:t>Dashboard</a:t>
            </a:r>
            <a:r>
              <a:rPr lang="es-ES" dirty="0">
                <a:solidFill>
                  <a:schemeClr val="bg1"/>
                </a:solidFill>
              </a:rPr>
              <a:t> Interactivo de Business </a:t>
            </a:r>
            <a:r>
              <a:rPr lang="es-ES" dirty="0" err="1">
                <a:solidFill>
                  <a:schemeClr val="bg1"/>
                </a:solidFill>
              </a:rPr>
              <a:t>Intelligence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7B1C25-A44F-B57F-1FE6-5D570F06C9CB}"/>
              </a:ext>
            </a:extLst>
          </p:cNvPr>
          <p:cNvSpPr txBox="1"/>
          <p:nvPr/>
        </p:nvSpPr>
        <p:spPr>
          <a:xfrm>
            <a:off x="7622005" y="6315525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Judit Giravent del curso Odisea Data</a:t>
            </a:r>
          </a:p>
        </p:txBody>
      </p:sp>
      <p:pic>
        <p:nvPicPr>
          <p:cNvPr id="5" name="ttsmaker-file-2026-9-15-12-38-1">
            <a:hlinkClick r:id="" action="ppaction://media"/>
            <a:extLst>
              <a:ext uri="{FF2B5EF4-FFF2-40B4-BE49-F238E27FC236}">
                <a16:creationId xmlns:a16="http://schemas.microsoft.com/office/drawing/2014/main" id="{F66E31F2-2198-408D-4577-D86674A1A2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01420" y="570514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5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063" y="614202"/>
            <a:ext cx="6438553" cy="67317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El Reto y el Objetivo</a:t>
            </a:r>
          </a:p>
        </p:txBody>
      </p:sp>
      <p:pic>
        <p:nvPicPr>
          <p:cNvPr id="6" name="Marcador de posición de imagen 5" descr="Montañas al atardecer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/>
          <a:srcRect t="21" b="21"/>
          <a:stretch/>
        </p:blipFill>
        <p:spPr/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82720" y="2018753"/>
            <a:ext cx="6710495" cy="1512516"/>
          </a:xfrm>
        </p:spPr>
        <p:txBody>
          <a:bodyPr rtlCol="0"/>
          <a:lstStyle>
            <a:defPPr>
              <a:defRPr lang="es-ES"/>
            </a:defPPr>
          </a:lstStyle>
          <a:p>
            <a:pPr algn="ctr"/>
            <a:r>
              <a:rPr lang="es-ES" dirty="0"/>
              <a:t>"Integrar datos históricos y en tiempo real para entender qué se paga, qué se demanda y cómo se trabaja en el sector </a:t>
            </a:r>
            <a:r>
              <a:rPr lang="es-ES" dirty="0" err="1"/>
              <a:t>tech</a:t>
            </a:r>
            <a:r>
              <a:rPr lang="es-ES" dirty="0"/>
              <a:t>".</a:t>
            </a:r>
          </a:p>
          <a:p>
            <a:pPr algn="ctr" rtl="0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C92FA5-C2F9-5ED3-681F-26AACFD71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9996" y="4711994"/>
            <a:ext cx="1920406" cy="1844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9B60BF5-D787-681C-DEC6-809DE7244A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7169" y="2775011"/>
            <a:ext cx="2933954" cy="293395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D15D9D1-E09F-1656-B118-8EBE0F2F46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6448" y="3252857"/>
            <a:ext cx="1874682" cy="1844200"/>
          </a:xfrm>
          <a:prstGeom prst="rect">
            <a:avLst/>
          </a:prstGeom>
        </p:spPr>
      </p:pic>
      <p:pic>
        <p:nvPicPr>
          <p:cNvPr id="11" name="ttsmaker-file-2026-9-15-12-39-17">
            <a:hlinkClick r:id="" action="ppaction://media"/>
            <a:extLst>
              <a:ext uri="{FF2B5EF4-FFF2-40B4-BE49-F238E27FC236}">
                <a16:creationId xmlns:a16="http://schemas.microsoft.com/office/drawing/2014/main" id="{14117719-9AA2-8E77-5991-6E192EE4EA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755773" y="514673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15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75" y="84108"/>
            <a:ext cx="8311102" cy="1161162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z="3600" dirty="0"/>
              <a:t>Metodología (El Pipeline ETL)</a:t>
            </a:r>
          </a:p>
        </p:txBody>
      </p:sp>
      <p:pic>
        <p:nvPicPr>
          <p:cNvPr id="7" name="Marcador de posición de imagen 8" descr="Montañas al atardecer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/>
          <a:srcRect l="23" r="23"/>
          <a:stretch/>
        </p:blipFill>
        <p:spPr>
          <a:xfrm>
            <a:off x="8197587" y="411831"/>
            <a:ext cx="3521337" cy="3521344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91B072A-E53C-9553-73D3-6BFD3A4B1322}"/>
              </a:ext>
            </a:extLst>
          </p:cNvPr>
          <p:cNvSpPr txBox="1"/>
          <p:nvPr/>
        </p:nvSpPr>
        <p:spPr>
          <a:xfrm>
            <a:off x="41770" y="974558"/>
            <a:ext cx="1105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Extracción (Python + </a:t>
            </a:r>
            <a:r>
              <a:rPr lang="es-ES" b="1" dirty="0" err="1">
                <a:solidFill>
                  <a:schemeClr val="bg1"/>
                </a:solidFill>
              </a:rPr>
              <a:t>APIs</a:t>
            </a:r>
            <a:r>
              <a:rPr lang="es-ES" b="1" dirty="0">
                <a:solidFill>
                  <a:schemeClr val="bg1"/>
                </a:solidFill>
              </a:rPr>
              <a:t>) ➡️Transformación (Limpieza y fusión) ➡️ Visualización (Looker Studio).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E17686-F8B0-445D-C3FB-45E892A79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000" y="1485900"/>
            <a:ext cx="4695000" cy="501355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2D787DF-1DB1-F9EB-F1E2-6FF852AE73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904" y="1409711"/>
            <a:ext cx="5430664" cy="5364181"/>
          </a:xfrm>
          <a:prstGeom prst="rect">
            <a:avLst/>
          </a:prstGeom>
        </p:spPr>
      </p:pic>
      <p:pic>
        <p:nvPicPr>
          <p:cNvPr id="9" name="ttsmaker-file-2026-9-15-12-52-27">
            <a:hlinkClick r:id="" action="ppaction://media"/>
            <a:extLst>
              <a:ext uri="{FF2B5EF4-FFF2-40B4-BE49-F238E27FC236}">
                <a16:creationId xmlns:a16="http://schemas.microsoft.com/office/drawing/2014/main" id="{D975464F-FF90-1F45-33DF-07BFECCBDE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6072" y="563976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35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505" y="640080"/>
            <a:ext cx="10246894" cy="63526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z="4000" dirty="0"/>
              <a:t>Hallazgo 1 - Salarios y Demanda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216" y="1513684"/>
            <a:ext cx="7853678" cy="72664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¿Dónde está el dinero y la demanda?</a:t>
            </a:r>
          </a:p>
        </p:txBody>
      </p:sp>
      <p:pic>
        <p:nvPicPr>
          <p:cNvPr id="6" name="Marcador de posición de imagen 21" descr="Montañas bajo un cielo casi al anochecer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/>
          <a:srcRect l="16939" r="16939"/>
          <a:stretch/>
        </p:blipFill>
        <p:spPr/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C17E49C-912A-4FD6-DC83-09DF72089787}"/>
              </a:ext>
            </a:extLst>
          </p:cNvPr>
          <p:cNvSpPr txBox="1"/>
          <p:nvPr/>
        </p:nvSpPr>
        <p:spPr>
          <a:xfrm>
            <a:off x="1955132" y="2068787"/>
            <a:ext cx="7100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Conclusión en 1 frase: "Data </a:t>
            </a:r>
            <a:r>
              <a:rPr lang="es-ES" dirty="0" err="1">
                <a:solidFill>
                  <a:schemeClr val="bg1"/>
                </a:solidFill>
              </a:rPr>
              <a:t>Science</a:t>
            </a:r>
            <a:r>
              <a:rPr lang="es-ES" dirty="0">
                <a:solidFill>
                  <a:schemeClr val="bg1"/>
                </a:solidFill>
              </a:rPr>
              <a:t>/AI ofrece </a:t>
            </a:r>
          </a:p>
          <a:p>
            <a:r>
              <a:rPr lang="es-ES" dirty="0">
                <a:solidFill>
                  <a:schemeClr val="bg1"/>
                </a:solidFill>
              </a:rPr>
              <a:t>el mejor equilibrio entre alta demanda y salarios competitivos".</a:t>
            </a:r>
          </a:p>
          <a:p>
            <a:endParaRPr lang="es-ES" dirty="0"/>
          </a:p>
        </p:txBody>
      </p:sp>
      <p:pic>
        <p:nvPicPr>
          <p:cNvPr id="8" name="ttsmaker-file-2026-9-15-12-54-52">
            <a:hlinkClick r:id="" action="ppaction://media"/>
            <a:extLst>
              <a:ext uri="{FF2B5EF4-FFF2-40B4-BE49-F238E27FC236}">
                <a16:creationId xmlns:a16="http://schemas.microsoft.com/office/drawing/2014/main" id="{86C35628-18DE-1E86-8A34-BC2BC489FE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095890" y="1525716"/>
            <a:ext cx="487363" cy="4873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24C6BCC-D430-D4CB-3D03-0AA1D10FC0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9432" y="2703097"/>
            <a:ext cx="5917230" cy="404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640080"/>
            <a:ext cx="7498080" cy="58112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z="3600" dirty="0"/>
              <a:t>La era del trabajo remoto</a:t>
            </a:r>
          </a:p>
        </p:txBody>
      </p:sp>
      <p:pic>
        <p:nvPicPr>
          <p:cNvPr id="13" name="Marcador de posición de imagen 12" descr="Una cordillera con nieve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/>
          <a:stretch/>
        </p:blipFill>
        <p:spPr/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194560"/>
            <a:ext cx="7498080" cy="873493"/>
          </a:xfrm>
        </p:spPr>
        <p:txBody>
          <a:bodyPr rtlCol="0"/>
          <a:lstStyle>
            <a:defPPr>
              <a:defRPr lang="es-ES"/>
            </a:defPPr>
          </a:lstStyle>
          <a:p>
            <a:pPr algn="ctr"/>
            <a:r>
              <a:rPr lang="es-ES" dirty="0"/>
              <a:t>DevOps y Software </a:t>
            </a:r>
            <a:r>
              <a:rPr lang="es-ES" dirty="0" err="1"/>
              <a:t>Engineering</a:t>
            </a:r>
            <a:r>
              <a:rPr lang="es-ES" dirty="0"/>
              <a:t> superan el 65% de trabajo remoto, mientras que Management y Data </a:t>
            </a:r>
            <a:r>
              <a:rPr lang="es-ES" dirty="0" err="1"/>
              <a:t>Engineering</a:t>
            </a:r>
            <a:r>
              <a:rPr lang="es-ES" dirty="0"/>
              <a:t> tiran hacia la presencialidad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6812E5-C857-92F0-16E1-F4366C5BF71E}"/>
              </a:ext>
            </a:extLst>
          </p:cNvPr>
          <p:cNvSpPr txBox="1"/>
          <p:nvPr/>
        </p:nvSpPr>
        <p:spPr>
          <a:xfrm>
            <a:off x="5071311" y="1425742"/>
            <a:ext cx="514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remoto ya es el estándar en infraestructura</a:t>
            </a:r>
          </a:p>
        </p:txBody>
      </p:sp>
      <p:pic>
        <p:nvPicPr>
          <p:cNvPr id="6" name="ttsmaker-file-2026-9-15-13-41-20">
            <a:hlinkClick r:id="" action="ppaction://media"/>
            <a:extLst>
              <a:ext uri="{FF2B5EF4-FFF2-40B4-BE49-F238E27FC236}">
                <a16:creationId xmlns:a16="http://schemas.microsoft.com/office/drawing/2014/main" id="{0D04DF51-DC1B-238C-0E15-D82C221BDD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52395" y="5235909"/>
            <a:ext cx="487363" cy="4873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13A0885-A8B7-AAF0-9F89-F68B125CC4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2173" y="3684616"/>
            <a:ext cx="7140559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2427" y="976964"/>
            <a:ext cx="10302240" cy="130302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0" dirty="0"/>
              <a:t>Exploración Interactiva</a:t>
            </a:r>
            <a:endParaRPr lang="es-ES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4C780BDD-62B7-3E51-C2DE-09259F62C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427" y="380096"/>
            <a:ext cx="10302237" cy="397191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b="1" dirty="0"/>
              <a:t>Demostración del </a:t>
            </a:r>
            <a:r>
              <a:rPr lang="es-ES" b="1" dirty="0" err="1"/>
              <a:t>Dashboard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5B3015-E012-E373-B779-577500EFB7EB}"/>
              </a:ext>
            </a:extLst>
          </p:cNvPr>
          <p:cNvSpPr txBox="1"/>
          <p:nvPr/>
        </p:nvSpPr>
        <p:spPr>
          <a:xfrm>
            <a:off x="1540042" y="2075447"/>
            <a:ext cx="9420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https://datastudio.google.com/s/i9GIHgVhohI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6B5109-6AF5-21EE-4F33-B02AFA223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4733" y="2907876"/>
            <a:ext cx="2961454" cy="2973160"/>
          </a:xfrm>
          <a:prstGeom prst="rect">
            <a:avLst/>
          </a:prstGeom>
        </p:spPr>
      </p:pic>
      <p:pic>
        <p:nvPicPr>
          <p:cNvPr id="6" name="ttsmaker-file-2026-9-15-13-51-42">
            <a:hlinkClick r:id="" action="ppaction://media"/>
            <a:extLst>
              <a:ext uri="{FF2B5EF4-FFF2-40B4-BE49-F238E27FC236}">
                <a16:creationId xmlns:a16="http://schemas.microsoft.com/office/drawing/2014/main" id="{3AA03CE6-A9CF-BD09-4B24-E27A32EB0A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16389" y="5885008"/>
            <a:ext cx="487363" cy="4873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9B298DD-8200-C12C-3106-5B24FD2180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2426" y="2588883"/>
            <a:ext cx="7087805" cy="420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8958714" cy="128016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sz="3200" dirty="0"/>
              <a:t>Conclusiones y Recomendaciones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904956"/>
            <a:ext cx="9337708" cy="207010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lvl="0"/>
            <a:r>
              <a:rPr lang="es-ES" dirty="0"/>
              <a:t>Para profesionales: Apostar por habilidades Cloud/DevOps o AI para maximizar salario y flexibilidad.</a:t>
            </a:r>
          </a:p>
          <a:p>
            <a:pPr lvl="0"/>
            <a:endParaRPr lang="es-ES" dirty="0"/>
          </a:p>
          <a:p>
            <a:pPr lvl="0"/>
            <a:endParaRPr lang="es-ES" dirty="0"/>
          </a:p>
          <a:p>
            <a:pPr lvl="0"/>
            <a:r>
              <a:rPr lang="es-ES" dirty="0"/>
              <a:t>Para empresas: El mercado de Management es escaso; el de Software </a:t>
            </a:r>
            <a:r>
              <a:rPr lang="es-ES" dirty="0" err="1"/>
              <a:t>Engineering</a:t>
            </a:r>
            <a:r>
              <a:rPr lang="es-ES" dirty="0"/>
              <a:t> es el más dinámico.</a:t>
            </a:r>
          </a:p>
        </p:txBody>
      </p:sp>
      <p:pic>
        <p:nvPicPr>
          <p:cNvPr id="7" name="ttsmaker-file-2026-9-15-13-56-48">
            <a:hlinkClick r:id="" action="ppaction://media"/>
            <a:extLst>
              <a:ext uri="{FF2B5EF4-FFF2-40B4-BE49-F238E27FC236}">
                <a16:creationId xmlns:a16="http://schemas.microsoft.com/office/drawing/2014/main" id="{3CA014C3-DAF4-95B6-62CA-062C1B09AD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05957" y="518778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1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pic>
        <p:nvPicPr>
          <p:cNvPr id="5" name="Marcador de posición de imagen 14" descr="Montañas bajo un cielo casi al anochecer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/>
          <a:srcRect l="13191" r="13191"/>
          <a:stretch/>
        </p:blipFill>
        <p:spPr>
          <a:xfrm>
            <a:off x="1371606" y="3205313"/>
            <a:ext cx="3043077" cy="3043083"/>
          </a:xfr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0609" y="4463716"/>
            <a:ext cx="6117381" cy="168105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Judit Giravent</a:t>
            </a:r>
          </a:p>
          <a:p>
            <a:pPr rtl="0"/>
            <a:r>
              <a:rPr lang="es-ES" dirty="0" err="1"/>
              <a:t>Github</a:t>
            </a:r>
            <a:r>
              <a:rPr lang="es-ES" dirty="0"/>
              <a:t>: @jdthgp27</a:t>
            </a:r>
          </a:p>
          <a:p>
            <a:r>
              <a:rPr lang="es-ES" b="1" dirty="0">
                <a:hlinkClick r:id="rId6"/>
              </a:rPr>
              <a:t>linkedin.com/in/judit-giravent-27b167156</a:t>
            </a:r>
            <a:endParaRPr lang="es-ES" dirty="0"/>
          </a:p>
        </p:txBody>
      </p:sp>
      <p:pic>
        <p:nvPicPr>
          <p:cNvPr id="4" name="ttsmaker-file-2026-9-15-14-1-14">
            <a:hlinkClick r:id="" action="ppaction://media"/>
            <a:extLst>
              <a:ext uri="{FF2B5EF4-FFF2-40B4-BE49-F238E27FC236}">
                <a16:creationId xmlns:a16="http://schemas.microsoft.com/office/drawing/2014/main" id="{2C5F1DFD-EA84-BE97-6A09-FDF10E974B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826181" y="399592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4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70_TF89338750_Win32" id="{E492AF64-DD59-444B-B710-ABE53F005779}" vid="{53C34969-EE9A-485C-9F8C-4E21061E057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{00098126-E90B-49CC-A856-98C5C554D178}TF54b766f8-63ee-43b7-9d15-113a5f305028ba7eb754_win32-f97cbd76e99a</Template>
  <TotalTime>95</TotalTime>
  <Words>221</Words>
  <Application>Microsoft Office PowerPoint</Application>
  <PresentationFormat>Panorámica</PresentationFormat>
  <Paragraphs>34</Paragraphs>
  <Slides>8</Slides>
  <Notes>8</Notes>
  <HiddenSlides>0</HiddenSlides>
  <MMClips>8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Univers</vt:lpstr>
      <vt:lpstr>GradientVTI</vt:lpstr>
      <vt:lpstr>Análisis del Mercado Laboral Tech 2024</vt:lpstr>
      <vt:lpstr>El Reto y el Objetivo</vt:lpstr>
      <vt:lpstr>Metodología (El Pipeline ETL)</vt:lpstr>
      <vt:lpstr>Hallazgo 1 - Salarios y Demanda</vt:lpstr>
      <vt:lpstr>La era del trabajo remoto</vt:lpstr>
      <vt:lpstr>Exploración Interactiva</vt:lpstr>
      <vt:lpstr>Conclusiones y Recomendaciones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2</cp:revision>
  <dcterms:created xsi:type="dcterms:W3CDTF">2026-09-15T10:33:11Z</dcterms:created>
  <dcterms:modified xsi:type="dcterms:W3CDTF">2026-09-15T12:09:08Z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